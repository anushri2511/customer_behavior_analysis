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spending patterns, customer segments, product preferences, and subscription behavior from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transactions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guide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28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Dataset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1857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950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35893" y="291857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18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5897523" y="3950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77995" y="291857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37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0339626" y="3950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Missing Ratings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46448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Key Feature Groups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5339358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Age, Gender, Location, Subscription Status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Details: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Item, Category, Amount, Season, Size, Color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Discounts, Promo Codes, Frequency, Review Rating, Shipping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05483"/>
            <a:ext cx="73758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Data Preparation in Python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054423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409468"/>
            <a:ext cx="3664744" cy="3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25837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Load &amp; Explore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80190" y="3074194"/>
            <a:ext cx="3664744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dataset with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used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initial profiling.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171748" y="2054423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748" y="2409468"/>
            <a:ext cx="3664863" cy="30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71748" y="25837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Clean &amp; Engineer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171748" y="3074194"/>
            <a:ext cx="3664863" cy="1829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missing Review Ratings with category medians; created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columns.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280190" y="530078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633204"/>
            <a:ext cx="7556421" cy="30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0190" y="5830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Standardize &amp; Load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280190" y="6320552"/>
            <a:ext cx="755642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Renamed columns to snake_case; dropped redundant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loaded cleaned data into PostgreSQL.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7438"/>
            <a:ext cx="79762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Revenue &amp; Spending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11529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29954" y="3578304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75.2k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2493" y="5174694"/>
            <a:ext cx="234315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158k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599521" y="2683192"/>
            <a:ext cx="33291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Shipping Type vs. Spend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599521" y="3292673"/>
            <a:ext cx="6244709" cy="1981438"/>
          </a:xfrm>
          <a:prstGeom prst="roundRect">
            <a:avLst>
              <a:gd name="adj" fmla="val 480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34074" y="344400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Type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952559" y="344400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Purchase (USD)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834074" y="410194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952559" y="410194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$58.46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834074" y="475988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952559" y="475988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$60.48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599521" y="552926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users spend slightly more on average, suggesting a higher-value customer segment worth targeting.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5987"/>
            <a:ext cx="116230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Subscriber vs. Non-Subscriber Breakdown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06278"/>
            <a:ext cx="6244709" cy="361735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56240" y="4168616"/>
            <a:ext cx="1008221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580" y="4205168"/>
            <a:ext cx="91440" cy="91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1500" y="4191476"/>
            <a:ext cx="779621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Subscribers·27%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5832872" y="4191476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·27%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869424" y="4191476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156240" y="4394121"/>
            <a:ext cx="1219081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580" y="4430673"/>
            <a:ext cx="91440" cy="914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31500" y="4416981"/>
            <a:ext cx="990481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Non-Subscribers·73%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6043732" y="4416981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·73%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6080284" y="4416981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7599521" y="2501741"/>
            <a:ext cx="29133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Revenue Comparison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7599521" y="3111222"/>
            <a:ext cx="6244709" cy="2344341"/>
          </a:xfrm>
          <a:prstGeom prst="roundRect">
            <a:avLst>
              <a:gd name="adj" fmla="val 406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834789" y="3262551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9910763" y="3262551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Spend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1986736" y="3262551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834789" y="3920490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9910763" y="3920490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$59.49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11986736" y="3920490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$62,645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7834789" y="4578429"/>
            <a:ext cx="162234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9910763" y="4578429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$59.87</a:t>
            </a:r>
            <a:endParaRPr lang="en-US" sz="1750" dirty="0"/>
          </a:p>
        </p:txBody>
      </p:sp>
      <p:sp>
        <p:nvSpPr>
          <p:cNvPr id="24" name="Text 19"/>
          <p:cNvSpPr/>
          <p:nvPr/>
        </p:nvSpPr>
        <p:spPr>
          <a:xfrm>
            <a:off x="11986736" y="4578429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$170,436</a:t>
            </a:r>
            <a:endParaRPr lang="en-US" sz="1750" dirty="0"/>
          </a:p>
        </p:txBody>
      </p:sp>
      <p:sp>
        <p:nvSpPr>
          <p:cNvPr id="25" name="Text 20"/>
          <p:cNvSpPr/>
          <p:nvPr/>
        </p:nvSpPr>
        <p:spPr>
          <a:xfrm>
            <a:off x="7599521" y="571071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 represent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customers — a major opportunity to convert through targeted subscription campaigns.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5969"/>
            <a:ext cx="121253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Top-Rated Products &amp; Discount Dependency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1724"/>
            <a:ext cx="40391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Top 5 Products by Avg. Rating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971205"/>
            <a:ext cx="6244709" cy="3917156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978825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146828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Rating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629144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Gloves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146828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3.86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279463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343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Sandals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146828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929783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343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146828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3.82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580102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146828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3.80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6230422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Skirt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146828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3.78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99521" y="2361724"/>
            <a:ext cx="48835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Most Discount-Dependent Products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599521" y="2971205"/>
            <a:ext cx="6244709" cy="3917156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7141" y="2978825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834074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0952559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Rate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607141" y="3629144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834074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10952559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50.00%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7607141" y="4279463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834074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Sneakers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0952559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49.66%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7607141" y="4929783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834074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Coat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10952559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49.07%</a:t>
            </a:r>
            <a:endParaRPr lang="en-US" sz="1750" dirty="0"/>
          </a:p>
        </p:txBody>
      </p:sp>
      <p:sp>
        <p:nvSpPr>
          <p:cNvPr id="37" name="Shape 35"/>
          <p:cNvSpPr/>
          <p:nvPr/>
        </p:nvSpPr>
        <p:spPr>
          <a:xfrm>
            <a:off x="7607141" y="5580102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834074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Sweater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10952559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48.17%</a:t>
            </a:r>
            <a:endParaRPr lang="en-US" sz="1750" dirty="0"/>
          </a:p>
        </p:txBody>
      </p:sp>
      <p:sp>
        <p:nvSpPr>
          <p:cNvPr id="40" name="Shape 38"/>
          <p:cNvSpPr/>
          <p:nvPr/>
        </p:nvSpPr>
        <p:spPr>
          <a:xfrm>
            <a:off x="7607141" y="6230422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834074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Pants</a:t>
            </a:r>
            <a:endParaRPr lang="en-US" sz="1750" dirty="0"/>
          </a:p>
        </p:txBody>
      </p:sp>
      <p:sp>
        <p:nvSpPr>
          <p:cNvPr id="42" name="Text 40"/>
          <p:cNvSpPr/>
          <p:nvPr/>
        </p:nvSpPr>
        <p:spPr>
          <a:xfrm>
            <a:off x="10952559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47.37%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4090"/>
            <a:ext cx="93710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Customer Segmentation &amp; Loyalty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74382"/>
            <a:ext cx="6244709" cy="36173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31355" y="5785590"/>
            <a:ext cx="235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79.9%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1947032" y="3016858"/>
            <a:ext cx="2839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17.97%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2969087" y="2621042"/>
            <a:ext cx="235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2.13%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091470" y="4123968"/>
            <a:ext cx="806648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810" y="4160520"/>
            <a:ext cx="91440" cy="91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66730" y="4146828"/>
            <a:ext cx="578048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Loyal·79.9%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5489734" y="4146828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·79.9%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526286" y="4146828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5091470" y="4349472"/>
            <a:ext cx="1064657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810" y="4386024"/>
            <a:ext cx="91440" cy="914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66730" y="4372332"/>
            <a:ext cx="83605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Returning·17.97%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5695355" y="4372332"/>
            <a:ext cx="40743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·17.97%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5731907" y="4372332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5091470" y="4574977"/>
            <a:ext cx="774859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810" y="4611529"/>
            <a:ext cx="91440" cy="914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66730" y="4597837"/>
            <a:ext cx="54625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New·2.13%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5457944" y="4597837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·2.13%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5494496" y="4597837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7599521" y="2569845"/>
            <a:ext cx="42601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Repeat Buyers &amp; Subscriptions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599521" y="315098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Among customers with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than 5 purchases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750" dirty="0"/>
          </a:p>
        </p:txBody>
      </p:sp>
      <p:sp>
        <p:nvSpPr>
          <p:cNvPr id="24" name="Shape 18"/>
          <p:cNvSpPr/>
          <p:nvPr/>
        </p:nvSpPr>
        <p:spPr>
          <a:xfrm>
            <a:off x="7599521" y="3769043"/>
            <a:ext cx="6244709" cy="1981438"/>
          </a:xfrm>
          <a:prstGeom prst="roundRect">
            <a:avLst>
              <a:gd name="adj" fmla="val 480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834074" y="392037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</a:t>
            </a:r>
            <a:endParaRPr lang="en-US" sz="1750" dirty="0"/>
          </a:p>
        </p:txBody>
      </p:sp>
      <p:sp>
        <p:nvSpPr>
          <p:cNvPr id="26" name="Text 20"/>
          <p:cNvSpPr/>
          <p:nvPr/>
        </p:nvSpPr>
        <p:spPr>
          <a:xfrm>
            <a:off x="10952559" y="392037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Buyers</a:t>
            </a:r>
            <a:endParaRPr lang="en-US" sz="1750" dirty="0"/>
          </a:p>
        </p:txBody>
      </p:sp>
      <p:sp>
        <p:nvSpPr>
          <p:cNvPr id="27" name="Text 21"/>
          <p:cNvSpPr/>
          <p:nvPr/>
        </p:nvSpPr>
        <p:spPr>
          <a:xfrm>
            <a:off x="7834074" y="457831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750" dirty="0"/>
          </a:p>
        </p:txBody>
      </p:sp>
      <p:sp>
        <p:nvSpPr>
          <p:cNvPr id="28" name="Text 22"/>
          <p:cNvSpPr/>
          <p:nvPr/>
        </p:nvSpPr>
        <p:spPr>
          <a:xfrm>
            <a:off x="10952559" y="457831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2,518</a:t>
            </a:r>
            <a:endParaRPr lang="en-US" sz="1750" dirty="0"/>
          </a:p>
        </p:txBody>
      </p:sp>
      <p:sp>
        <p:nvSpPr>
          <p:cNvPr id="29" name="Text 23"/>
          <p:cNvSpPr/>
          <p:nvPr/>
        </p:nvSpPr>
        <p:spPr>
          <a:xfrm>
            <a:off x="7834074" y="523625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750" dirty="0"/>
          </a:p>
        </p:txBody>
      </p:sp>
      <p:sp>
        <p:nvSpPr>
          <p:cNvPr id="30" name="Text 24"/>
          <p:cNvSpPr/>
          <p:nvPr/>
        </p:nvSpPr>
        <p:spPr>
          <a:xfrm>
            <a:off x="10952559" y="523625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958</a:t>
            </a:r>
            <a:endParaRPr lang="en-US" sz="1750" dirty="0"/>
          </a:p>
        </p:txBody>
      </p:sp>
      <p:sp>
        <p:nvSpPr>
          <p:cNvPr id="31" name="Text 25"/>
          <p:cNvSpPr/>
          <p:nvPr/>
        </p:nvSpPr>
        <p:spPr>
          <a:xfrm>
            <a:off x="7599521" y="600563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vast majority of loyal customers are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subscribed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key conversion opportunity.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679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Revenue by Age Group &amp; Top Products by Category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69669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5697" y="3537347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62.1k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166797" y="4335542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59.2k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5967424" y="5133737"/>
            <a:ext cx="186452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56k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878375" y="5931932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55.8k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599521" y="3041333"/>
            <a:ext cx="36496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Top Products per Category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599521" y="3650813"/>
            <a:ext cx="6244709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07141" y="3658433"/>
            <a:ext cx="622875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834789" y="3802142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914573" y="3802142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 Product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1990546" y="3802142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607141" y="4308753"/>
            <a:ext cx="6228755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834789" y="4452461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914573" y="4452461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Jewelry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11990546" y="4452461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171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7607141" y="4959072"/>
            <a:ext cx="622875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834789" y="5102781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9914573" y="5102781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Blouse / Pants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11990546" y="5102781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171</a:t>
            </a:r>
            <a:endParaRPr lang="en-US" sz="1750" dirty="0"/>
          </a:p>
        </p:txBody>
      </p:sp>
      <p:sp>
        <p:nvSpPr>
          <p:cNvPr id="22" name="Shape 19"/>
          <p:cNvSpPr/>
          <p:nvPr/>
        </p:nvSpPr>
        <p:spPr>
          <a:xfrm>
            <a:off x="7607141" y="5609392"/>
            <a:ext cx="6228755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834789" y="575310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Footwear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9914573" y="5753100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Sandals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11990546" y="575310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160</a:t>
            </a:r>
            <a:endParaRPr lang="en-US" sz="1750" dirty="0"/>
          </a:p>
        </p:txBody>
      </p:sp>
      <p:sp>
        <p:nvSpPr>
          <p:cNvPr id="26" name="Shape 23"/>
          <p:cNvSpPr/>
          <p:nvPr/>
        </p:nvSpPr>
        <p:spPr>
          <a:xfrm>
            <a:off x="7607141" y="6259711"/>
            <a:ext cx="622875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7834789" y="6403419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Outerwear</a:t>
            </a:r>
            <a:endParaRPr lang="en-US" sz="1750" dirty="0"/>
          </a:p>
        </p:txBody>
      </p:sp>
      <p:sp>
        <p:nvSpPr>
          <p:cNvPr id="28" name="Text 25"/>
          <p:cNvSpPr/>
          <p:nvPr/>
        </p:nvSpPr>
        <p:spPr>
          <a:xfrm>
            <a:off x="9914573" y="6403419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Jacket</a:t>
            </a:r>
            <a:endParaRPr lang="en-US" sz="1750" dirty="0"/>
          </a:p>
        </p:txBody>
      </p:sp>
      <p:sp>
        <p:nvSpPr>
          <p:cNvPr id="29" name="Text 26"/>
          <p:cNvSpPr/>
          <p:nvPr/>
        </p:nvSpPr>
        <p:spPr>
          <a:xfrm>
            <a:off x="11990546" y="6403419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163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005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1234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3.9K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544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Customers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35893" y="351234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$59.76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5897523" y="4544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Avg. Purchase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77995" y="351234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3.75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0339626" y="4544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Avg. Rating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515362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filters by Subscription Status, Gender, Category, and Shipping Type. Visualizations include revenue by category, sales by age group, and subscription distribution.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4515"/>
            <a:ext cx="77754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Business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33456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224" y="2167890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354937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3565565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to convert the 73% non-subscriber base.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28548" y="1933456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982" y="2167890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2354937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62982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62982" y="3565565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accelerate movement into the Loyal segment.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793790" y="4752618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24" y="4987052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5390" y="5174099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28224" y="5894308"/>
            <a:ext cx="31687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1028224" y="6384727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sales boosts with margin control on high-discount products.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428548" y="4752618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2982" y="4987052"/>
            <a:ext cx="680442" cy="680442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50148" y="5174099"/>
            <a:ext cx="306110" cy="30611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62982" y="5894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7662982" y="6384727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Young Adults and express-shipping users — highest revenue contributors.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2026-04-17T20:18:50Z</dcterms:created>
  <dcterms:modified xsi:type="dcterms:W3CDTF">2026-04-17T20:18:50Z</dcterms:modified>
</cp:coreProperties>
</file>